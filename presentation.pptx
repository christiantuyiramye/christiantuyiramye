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du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762417" cy="1097280"/>
          </a:xfrm>
          <a:prstGeom prst="rect">
            <a:avLst/>
          </a:prstGeom>
        </p:spPr>
      </p:pic>
      <p:pic>
        <p:nvPicPr>
          <p:cNvPr id="5" name="Picture 4" descr="kdu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57200"/>
            <a:ext cx="3100143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295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Conversational EDA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0" i="1">
                <a:solidFill>
                  <a:srgbClr val="F4A261"/>
                </a:solidFill>
                <a:latin typeface="Calibri"/>
              </a:rPr>
              <a:t>— and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7295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A Production-Grade Data Science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Tuyiramye Christian  (2517025)   •   Dushime Pacifique  (2517004)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 i="0">
                <a:solidFill>
                  <a:srgbClr val="F4A261"/>
                </a:solidFill>
                <a:latin typeface="Calibri"/>
              </a:rPr>
              <a:t>Supervisor:  Prof. Dr. Jebran Khan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Kyungdong University Global  •  Department of AI  •  Spring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100584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1. Motivation &amp; Problem Statement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2. Objectives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3. System Architecture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4. Phase A — SQL Agent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5. Phase B — Visual Router &amp; Pandas Agent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6. Sandboxed Execution &amp; Guardrails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7. Churn Prediction — Dataset &amp; Pipeline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8. Modeling &amp; Results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9. Feature Importance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10. Discussion, Limitations, Future Work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3C72"/>
                </a:solidFill>
                <a:latin typeface="Calibri"/>
              </a:rPr>
              <a:t>•  11. Conclusion &amp; Acknowledgments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Motivation — Two Industry Pain Points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8F9FB"/>
          </a:solidFill>
          <a:ln>
            <a:solidFill>
              <a:srgbClr val="1E3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49377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E3C72"/>
                </a:solidFill>
                <a:latin typeface="Calibri"/>
              </a:rPr>
              <a:t>1.  Data-access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49377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Stakeholders depend on analysts to write SQL for every new question.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Round-trip slows decisions by hours to days.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Cognitive cost of SQL gates which questions get asked at all.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Companies become biased toward questions that fit existing dashboards.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8F9FB"/>
          </a:solidFill>
          <a:ln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49377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E76F51"/>
                </a:solidFill>
                <a:latin typeface="Calibri"/>
              </a:rPr>
              <a:t>2.  Reactive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9377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Churn is discovered AFTER revenue is lost.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Acquiring a new customer costs 5–25× more than retention.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Most retention programs only kick in after a bad quarter.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They target the wrong cohort because they rely on intuition.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E3C72"/>
                </a:solidFill>
                <a:latin typeface="Calibri"/>
              </a:rP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Translate plain English into syntactically valid MySQL.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Dynamic output: table / summary / interactive chart.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Multi-turn conversational memory across follow-ups.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Predict churn and rank customers by retention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2A9D8F"/>
                </a:solidFill>
                <a:latin typeface="Calibri"/>
              </a:rPr>
              <a:t>Non-functional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Strict read-only safety — no INSERT/UPDATE/DELETE/DROP.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Reliability — no generated code can crash the UI.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Performance — cache DB pool and LLM client across reruns.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Reproducibility — fixed-seed dataset, leak-free CV.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Interpretability — surface drivers, not just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— Dual-Agent Pipeline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2743200" cy="77724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4300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81328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natural language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61888" y="1856232"/>
            <a:ext cx="320040" cy="320040"/>
          </a:xfrm>
          <a:prstGeom prst="down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103120"/>
            <a:ext cx="2743200" cy="77724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14884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Streamlit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87168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app.py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61888" y="2862072"/>
            <a:ext cx="320040" cy="320040"/>
          </a:xfrm>
          <a:prstGeom prst="down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2743200" cy="7772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15468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A: SQL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93008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ZSR-D + read-only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61888" y="3867912"/>
            <a:ext cx="320040" cy="320040"/>
          </a:xfrm>
          <a:prstGeom prst="down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4114800"/>
            <a:ext cx="2743200" cy="7772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16052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Visual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498848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keyword classifier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61888" y="4873752"/>
            <a:ext cx="320040" cy="320040"/>
          </a:xfrm>
          <a:prstGeom prst="down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0" y="5166360"/>
            <a:ext cx="2743200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3095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Text / Table answer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5166360"/>
            <a:ext cx="2743200" cy="7772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521208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Phase B: Pandas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550408"/>
            <a:ext cx="2743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Plotly / Matplotlib code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098280" y="5943600"/>
            <a:ext cx="320040" cy="320040"/>
          </a:xfrm>
          <a:prstGeom prst="down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6309360"/>
            <a:ext cx="2743200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635508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Sandboxed exec()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675120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Streamlit 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1E3C72"/>
                </a:solidFill>
                <a:latin typeface="Calibri"/>
              </a:rPr>
              <a:t>OpenAI GPT-4o  (T=0)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12801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1E3C72"/>
                </a:solidFill>
                <a:latin typeface="Calibri"/>
              </a:rPr>
              <a:t>MySQL  (pymysql)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A — The SQL Agent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B5561"/>
                </a:solidFill>
                <a:latin typeface="Calibri"/>
              </a:rPr>
              <a:t>•  Built with create_sql_agent(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Agent type: ZERO_SHOT_REACT_DESCRIPTION.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Transparent Thought → Action → Observation loop.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Read-only system prefix forbids INSERT/UPDATE/DELETE/DROP/...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handle_parsing_errors=True (recoverable parse failures).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max_iterations=12 (prevents runaway billing).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sample_rows_in_table_info=3 (column disambiguation).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@st.cache_resource keeps the SQLAlchemy pool warm across reruns.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097280"/>
            <a:ext cx="4480560" cy="329184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097280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Thought:  list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499616"/>
            <a:ext cx="4480560" cy="32918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499616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Action:   list_tables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901952"/>
            <a:ext cx="4480560" cy="329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01952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Obs:      customers, orders,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304288"/>
            <a:ext cx="4480560" cy="329184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304288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Thought:  inspect 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706624"/>
            <a:ext cx="4480560" cy="32918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706624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Action:   schema(customers)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108960"/>
            <a:ext cx="4480560" cy="329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108960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Obs:      columns + sample 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511296"/>
            <a:ext cx="4480560" cy="329184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511296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Thought:  draft SELECT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913632"/>
            <a:ext cx="4480560" cy="329184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913632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Action:   query(SELECT ...)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315968"/>
            <a:ext cx="4480560" cy="329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4315968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Obs:      result 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718304"/>
            <a:ext cx="4480560" cy="329184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718304"/>
            <a:ext cx="438912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Final:    summary +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B — Visual Router &amp; Pandas Agent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3C72"/>
                </a:solidFill>
                <a:latin typeface="Calibri"/>
              </a:rPr>
              <a:t>Two-step visualization pipeline: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51760" cy="14630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Keyword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26517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chart, plot, graph,
bar, line, pie, ...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4680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554480"/>
            <a:ext cx="2651760" cy="1463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4592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Parse SQL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48840"/>
            <a:ext cx="26517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Markdown table
→ DataFrame df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2651760" cy="14630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4592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Pandas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26517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writes Plotly /
Matplotlib code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15400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554480"/>
            <a:ext cx="2651760" cy="14630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64592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Sandbox exec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148840"/>
            <a:ext cx="26517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render in
Streamlit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3C72"/>
                </a:solidFill>
                <a:latin typeface="Calibri"/>
              </a:rPr>
              <a:t>Why a deterministic keyword router?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Free — no additional API call per turn.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Auditable — the same prompt always routes the same way.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Sufficient — the visual vocabulary in real questions is narrow.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Trade-off: lower recall on paraphrases; we accept this as an explicit limitation.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Sandboxed Execution &amp; Enterprise Guardrails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E3C72"/>
                </a:solidFill>
                <a:latin typeface="Calibri"/>
              </a:rPr>
              <a:t>exec() sandbox namespace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86400" cy="2377440"/>
          </a:xfrm>
          <a:prstGeom prst="rect">
            <a:avLst/>
          </a:prstGeom>
          <a:solidFill>
            <a:srgbClr val="F8F9FB"/>
          </a:solidFill>
          <a:ln>
            <a:solidFill>
              <a:srgbClr val="1E3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82296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1783080"/>
            <a:ext cx="82296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783080"/>
            <a:ext cx="82296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783080"/>
            <a:ext cx="82296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83080"/>
            <a:ext cx="82296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783080"/>
            <a:ext cx="82296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2A9D8F"/>
                </a:solidFill>
                <a:latin typeface="Calibri"/>
              </a:rPr>
              <a:t>allowed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5120640" cy="18288"/>
          </a:xfrm>
          <a:prstGeom prst="rect">
            <a:avLst/>
          </a:prstGeom>
          <a:solidFill>
            <a:srgbClr val="4B5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971800"/>
            <a:ext cx="777240" cy="4114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2971800"/>
            <a:ext cx="777240" cy="4114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2971800"/>
            <a:ext cx="777240" cy="4114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971800"/>
            <a:ext cx="777240" cy="4114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2971800"/>
            <a:ext cx="777240" cy="4114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subprocess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971800"/>
            <a:ext cx="777240" cy="4114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requests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E76F51"/>
                </a:solidFill>
                <a:latin typeface="Calibri"/>
              </a:rPr>
              <a:t>blocked / not in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E3C72"/>
                </a:solidFill>
                <a:latin typeface="Calibri"/>
              </a:rPr>
              <a:t>Three-layer defense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600200"/>
            <a:ext cx="5486400" cy="96012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664208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1E3C72"/>
                </a:solidFill>
                <a:latin typeface="Calibri"/>
              </a:rPr>
              <a:t>1. Prompt-level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984248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alibri"/>
              </a:rPr>
              <a:t>System prompt forbids imports, os, sys, subprocess, open, eval, network APIs.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79192"/>
            <a:ext cx="5486400" cy="96012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7432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1E3C72"/>
                </a:solidFill>
                <a:latin typeface="Calibri"/>
              </a:rPr>
              <a:t>2. Namespace-level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63240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alibri"/>
              </a:rPr>
              <a:t>exec() only sees six names; everything else simply doesn’t exist.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58184"/>
            <a:ext cx="5486400" cy="96012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822192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1E3C72"/>
                </a:solidFill>
                <a:latin typeface="Calibri"/>
              </a:rPr>
              <a:t>3. Exception-level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142232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alibri"/>
              </a:rPr>
              <a:t>Broad try/except converts crashes into a friendly Streamlit error card.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3C72"/>
                </a:solidFill>
                <a:latin typeface="Calibri"/>
              </a:rPr>
              <a:t>Read-only SQL + Conversational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10972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System prefix enumerates and forbids every mutation verb.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Defense-in-depth: deploy with a read-only MySQL role too.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st.session_state.messages persists turns across reruns → true follow-ups.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Chatbot — Sample Interaction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solidFill>
            <a:srgbClr val="F8F9FB"/>
          </a:solidFill>
          <a:ln>
            <a:solidFill>
              <a:srgbClr val="1E3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14300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E3C72"/>
                </a:solidFill>
                <a:latin typeface="Calibri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63040"/>
            <a:ext cx="9784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4B5561"/>
                </a:solidFill>
                <a:latin typeface="Calibri"/>
              </a:rPr>
              <a:t>Show me the top 10 customers by revenue for 2024.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240280"/>
            <a:ext cx="10058400" cy="914400"/>
          </a:xfrm>
          <a:prstGeom prst="rect">
            <a:avLst/>
          </a:prstGeom>
          <a:solidFill>
            <a:srgbClr val="F8F9FB"/>
          </a:solidFill>
          <a:ln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28600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Calibri"/>
              </a:rPr>
              <a:t>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06040"/>
            <a:ext cx="9784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4B5561"/>
                </a:solidFill>
                <a:latin typeface="Calibri"/>
              </a:rPr>
              <a:t>Returned a 10-row table sorted by total revenue (descending). Top customer: $48,212.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383280"/>
            <a:ext cx="10058400" cy="914400"/>
          </a:xfrm>
          <a:prstGeom prst="rect">
            <a:avLst/>
          </a:prstGeom>
          <a:solidFill>
            <a:srgbClr val="F8F9FB"/>
          </a:solidFill>
          <a:ln>
            <a:solidFill>
              <a:srgbClr val="1E3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E3C72"/>
                </a:solidFill>
                <a:latin typeface="Calibri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49040"/>
            <a:ext cx="9784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4B5561"/>
                </a:solidFill>
                <a:latin typeface="Calibri"/>
              </a:rPr>
              <a:t>Now break that out by region and plot it as a bar chart.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526280"/>
            <a:ext cx="10058400" cy="914400"/>
          </a:xfrm>
          <a:prstGeom prst="rect">
            <a:avLst/>
          </a:prstGeom>
          <a:solidFill>
            <a:srgbClr val="F8F9FB"/>
          </a:solidFill>
          <a:ln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57200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Calibri"/>
              </a:rPr>
              <a:t>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92040"/>
            <a:ext cx="9784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4B5561"/>
                </a:solidFill>
                <a:latin typeface="Calibri"/>
              </a:rPr>
              <a:t>Generated Plotly bar chart — 4 regions x 10 customers, rendered in-line.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669280"/>
            <a:ext cx="10058400" cy="914400"/>
          </a:xfrm>
          <a:prstGeom prst="rect">
            <a:avLst/>
          </a:prstGeom>
          <a:solidFill>
            <a:srgbClr val="F8F9FB"/>
          </a:solidFill>
          <a:ln>
            <a:solidFill>
              <a:srgbClr val="1E3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71500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E3C72"/>
                </a:solidFill>
                <a:latin typeface="Calibri"/>
              </a:rP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6035040"/>
            <a:ext cx="9784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4B5561"/>
                </a:solidFill>
                <a:latin typeface="Calibri"/>
              </a:rPr>
              <a:t>Change it to a line chart by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Churn Prediction — Dataset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E3C72"/>
                </a:solidFill>
                <a:latin typeface="Calibri"/>
              </a:rPr>
              <a:t>Synthetic 5,000-customer e-commerce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4B5561"/>
                </a:solidFill>
                <a:latin typeface="Calibri"/>
              </a:rPr>
              <a:t>seed=42  •  fully reproducible  •  ~27% positive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Demographic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94560"/>
            <a:ext cx="4572000" cy="41148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194560"/>
            <a:ext cx="4389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onsolas"/>
              </a:rPr>
              <a:t>age, gender, region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2194560" cy="41148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51760"/>
            <a:ext cx="4572000" cy="41148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651760"/>
            <a:ext cx="4389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onsolas"/>
              </a:rPr>
              <a:t>membership tier, payment, tenure_months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2194560" cy="41148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108960"/>
            <a:ext cx="4572000" cy="41148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108960"/>
            <a:ext cx="4389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onsolas"/>
              </a:rPr>
              <a:t>avg_order_value, orders_per_month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2194560" cy="41148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566160"/>
            <a:ext cx="4572000" cy="41148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566160"/>
            <a:ext cx="4389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onsolas"/>
              </a:rPr>
              <a:t>return_rate, support_tickets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2194560" cy="41148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023360"/>
            <a:ext cx="4572000" cy="41148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4023360"/>
            <a:ext cx="4389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onsolas"/>
              </a:rPr>
              <a:t>days_since_last_order, discount_usage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2194560" cy="41148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21945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480560"/>
            <a:ext cx="4572000" cy="41148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480560"/>
            <a:ext cx="43891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B5561"/>
                </a:solidFill>
                <a:latin typeface="Consolas"/>
              </a:rPr>
              <a:t>churned (0/1)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10058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E3C72"/>
                </a:solidFill>
                <a:latin typeface="Calibri"/>
              </a:rPr>
              <a:t>Churn label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1463040"/>
            <a:ext cx="4114800" cy="4297680"/>
          </a:xfrm>
          <a:prstGeom prst="rect">
            <a:avLst/>
          </a:prstGeom>
          <a:solidFill>
            <a:srgbClr val="F8F9FB"/>
          </a:solidFill>
          <a:ln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1600200"/>
            <a:ext cx="384048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E3C72"/>
                </a:solidFill>
                <a:latin typeface="Consolas"/>
              </a:rPr>
              <a:t>s = 0.020 · recency
  + 1.500 · return_rate
  + 0.150 · tickets
  − 0.030 · tenure
  − 0.400 · 1[Platinum]
  − 0.200 · 1[Gold]
  − 0.060 · orders/mo
  + N(0, 0.5)
y = 1{ s &gt; 73rd percentile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Modeling Pipeline (leakage-free)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828800" cy="164592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Synthetic
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5,000 rows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76272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04288" y="1463040"/>
            <a:ext cx="1828800" cy="164592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160020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33172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Scale + OHE
(in Pipeline)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14800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463040"/>
            <a:ext cx="1828800" cy="1645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160020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Train /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33172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80 / 20
stratified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53328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463040"/>
            <a:ext cx="1828800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60020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5-fold 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LR / RF / GBM
ROC-AUC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91856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1463040"/>
            <a:ext cx="1828800" cy="16459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160020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Grid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233172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tune the
winner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30384" y="2121408"/>
            <a:ext cx="365760" cy="320040"/>
          </a:xfrm>
          <a:prstGeom prst="rightArrow">
            <a:avLst/>
          </a:prstGeom>
          <a:solidFill>
            <a:srgbClr val="4B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0" y="1463040"/>
            <a:ext cx="1828800" cy="164592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60020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331720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ROC / PR
CM / FI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solidFill>
            <a:srgbClr val="F8F9FB"/>
          </a:solidFill>
          <a:ln>
            <a:solidFill>
              <a:srgbClr val="1E3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749039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3C72"/>
                </a:solidFill>
                <a:latin typeface="Calibri"/>
              </a:rPr>
              <a:t>Why this is leakage-free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51960"/>
            <a:ext cx="106070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ColumnTransformer (scaler + OHE) lives INSIDE the sklearn Pipeline.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scikit-learn re-fits the preprocessor on every CV fold separately.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Scaling parameters never leak from the validation fold into training.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If we fit the preprocessor once on all training data → optimistic CV scores.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5-Fold Cross-Validation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12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6217920" cy="4937760"/>
          </a:xfrm>
          <a:prstGeom prst="rect">
            <a:avLst/>
          </a:prstGeom>
          <a:solidFill>
            <a:srgbClr val="F8F9FB"/>
          </a:solidFill>
          <a:ln>
            <a:solidFill>
              <a:srgbClr val="4B5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6217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E3C72"/>
                </a:solidFill>
                <a:latin typeface="Calibri"/>
              </a:rPr>
              <a:t>Mean CV ROC-AUC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669280"/>
            <a:ext cx="5486400" cy="9525"/>
          </a:xfrm>
          <a:prstGeom prst="rect">
            <a:avLst/>
          </a:prstGeom>
          <a:solidFill>
            <a:srgbClr val="E0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5040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4B5561"/>
                </a:solidFill>
                <a:latin typeface="Calibri"/>
              </a:rPr>
              <a:t>0.5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937761"/>
            <a:ext cx="5486400" cy="9525"/>
          </a:xfrm>
          <a:prstGeom prst="rect">
            <a:avLst/>
          </a:prstGeom>
          <a:solidFill>
            <a:srgbClr val="E0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18889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4B5561"/>
                </a:solidFill>
                <a:latin typeface="Calibri"/>
              </a:rPr>
              <a:t>0.6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206241"/>
            <a:ext cx="5486400" cy="9525"/>
          </a:xfrm>
          <a:prstGeom prst="rect">
            <a:avLst/>
          </a:prstGeom>
          <a:solidFill>
            <a:srgbClr val="E0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87369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4B5561"/>
                </a:solidFill>
                <a:latin typeface="Calibri"/>
              </a:rPr>
              <a:t>0.7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474720"/>
            <a:ext cx="5486400" cy="9525"/>
          </a:xfrm>
          <a:prstGeom prst="rect">
            <a:avLst/>
          </a:prstGeom>
          <a:solidFill>
            <a:srgbClr val="E0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5584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4B5561"/>
                </a:solidFill>
                <a:latin typeface="Calibri"/>
              </a:rPr>
              <a:t>0.8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743200"/>
            <a:ext cx="5486400" cy="9525"/>
          </a:xfrm>
          <a:prstGeom prst="rect">
            <a:avLst/>
          </a:prstGeom>
          <a:solidFill>
            <a:srgbClr val="E0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62432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4B5561"/>
                </a:solidFill>
                <a:latin typeface="Calibri"/>
              </a:rPr>
              <a:t>0.9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011680"/>
            <a:ext cx="5486400" cy="9525"/>
          </a:xfrm>
          <a:prstGeom prst="rect">
            <a:avLst/>
          </a:prstGeom>
          <a:solidFill>
            <a:srgbClr val="E0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1892808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4B5561"/>
                </a:solidFill>
                <a:latin typeface="Calibri"/>
              </a:rPr>
              <a:t>1.0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3474720"/>
            <a:ext cx="914400" cy="219456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310896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1E3C72"/>
                </a:solidFill>
                <a:latin typeface="Calibri"/>
              </a:rPr>
              <a:t>0.80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15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4B5561"/>
                </a:solidFill>
                <a:latin typeface="Calibri"/>
              </a:rPr>
              <a:t>LR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108960"/>
            <a:ext cx="914400" cy="256032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7432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1E3C72"/>
                </a:solidFill>
                <a:latin typeface="Calibri"/>
              </a:rPr>
              <a:t>0.85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715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4B5561"/>
                </a:solidFill>
                <a:latin typeface="Calibri"/>
              </a:rPr>
              <a:t>RF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962656"/>
            <a:ext cx="914400" cy="270662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596896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1E3C72"/>
                </a:solidFill>
                <a:latin typeface="Calibri"/>
              </a:rPr>
              <a:t>0.87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7150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4B5561"/>
                </a:solidFill>
                <a:latin typeface="Calibri"/>
              </a:rPr>
              <a:t>GBM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128016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3C72"/>
                </a:solidFill>
                <a:latin typeface="Calibri"/>
              </a:rPr>
              <a:t>Cross-validation summary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1828800"/>
            <a:ext cx="2194560" cy="45720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8288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1828800"/>
            <a:ext cx="1188720" cy="45720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182880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8480" y="1828800"/>
            <a:ext cx="914400" cy="45720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0" y="18288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286000"/>
            <a:ext cx="2194560" cy="457200"/>
          </a:xfrm>
          <a:prstGeom prst="rect">
            <a:avLst/>
          </a:prstGeom>
          <a:solidFill>
            <a:srgbClr val="2A9D8F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22860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Gradient Boosting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2286000"/>
            <a:ext cx="1188720" cy="457200"/>
          </a:xfrm>
          <a:prstGeom prst="rect">
            <a:avLst/>
          </a:prstGeom>
          <a:solidFill>
            <a:srgbClr val="2A9D8F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228600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0.87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98480" y="2286000"/>
            <a:ext cx="914400" cy="457200"/>
          </a:xfrm>
          <a:prstGeom prst="rect">
            <a:avLst/>
          </a:prstGeom>
          <a:solidFill>
            <a:srgbClr val="2A9D8F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0" y="22860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0.010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743200"/>
            <a:ext cx="2194560" cy="45720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27432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4B5561"/>
                </a:solidFill>
                <a:latin typeface="Calibri"/>
              </a:rPr>
              <a:t>Random Forest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2743200"/>
            <a:ext cx="1188720" cy="45720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274320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4B5561"/>
                </a:solidFill>
                <a:latin typeface="Calibri"/>
              </a:rPr>
              <a:t>0.85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98480" y="2743200"/>
            <a:ext cx="914400" cy="45720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0" y="27432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4B5561"/>
                </a:solidFill>
                <a:latin typeface="Calibri"/>
              </a:rPr>
              <a:t>0.011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3200400"/>
            <a:ext cx="2194560" cy="45720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32004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4B5561"/>
                </a:solidFill>
                <a:latin typeface="Calibri"/>
              </a:rPr>
              <a:t>Logistic Reg.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3200400"/>
            <a:ext cx="1188720" cy="45720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320040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4B5561"/>
                </a:solidFill>
                <a:latin typeface="Calibri"/>
              </a:rPr>
              <a:t>0.80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98480" y="3200400"/>
            <a:ext cx="914400" cy="457200"/>
          </a:xfrm>
          <a:prstGeom prst="rect">
            <a:avLst/>
          </a:prstGeom>
          <a:solidFill>
            <a:srgbClr val="F8F9FB"/>
          </a:solidFill>
          <a:ln>
            <a:solidFill>
              <a:srgbClr val="2A5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98480" y="32004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4B5561"/>
                </a:solidFill>
                <a:latin typeface="Calibri"/>
              </a:rPr>
              <a:t>0.012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4023360"/>
            <a:ext cx="45720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4B5561"/>
                </a:solidFill>
                <a:latin typeface="Calibri"/>
              </a:rPr>
              <a:t>Tuned Gradient Boosting wins. Ensembles beat the linear baseline by a clear margin on the held-out test set as well.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Top Churn Drivers — Permutation Importance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recency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161288"/>
            <a:ext cx="6858000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1097280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0.155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44752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return_rate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508760"/>
            <a:ext cx="4866967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207" y="1444752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92224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tier=Platinum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856232"/>
            <a:ext cx="2875935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39175" y="1792224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39696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tier=Gold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203704"/>
            <a:ext cx="2433483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6723" y="2139696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87168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support_tickets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551176"/>
            <a:ext cx="1769806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3046" y="2487168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34640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tenure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898648"/>
            <a:ext cx="1106129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9369" y="2834640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182112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orders /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246120"/>
            <a:ext cx="884903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8143" y="3182112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529584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payment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593592"/>
            <a:ext cx="530941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4181" y="3529584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77056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region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941064"/>
            <a:ext cx="442451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5691" y="3877056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224528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gender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4288536"/>
            <a:ext cx="353961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7201" y="4224528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572000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636008"/>
            <a:ext cx="309716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2956" y="4572000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919472"/>
            <a:ext cx="219456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0" i="0">
                <a:solidFill>
                  <a:srgbClr val="4B5561"/>
                </a:solidFill>
                <a:latin typeface="Consolas"/>
              </a:rPr>
              <a:t>discount_usage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4983480"/>
            <a:ext cx="221225" cy="219456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84465" y="4919472"/>
            <a:ext cx="109728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E3C72"/>
                </a:solidFill>
                <a:latin typeface="Calibri"/>
              </a:rPr>
              <a:t>0.005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321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1">
                <a:solidFill>
                  <a:srgbClr val="1E3C72"/>
                </a:solidFill>
                <a:latin typeface="Calibri"/>
              </a:rPr>
              <a:t>Recency and return rate dominate; loyalty tier (Gold, Platinum) protects.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Discussion — Why the Two Halves Reinforce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Part I lets the retention manager ASK: 'top 200 at-risk customers in Q4, by region.'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Part II PROVIDES the predictive signal behind that ranking.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Same data domain → a virtuous loop between exploration and prediction.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Read-only guardrails + sandboxed exec satisfy enterprise security teams.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Two architectural decisions paid off the most: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  → splitting Phase A (SQL) from Phase B (viz) instead of fusing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  → parsing SQL output to a real DataFrame before invoking the visualization agent.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B5561"/>
                </a:solidFill>
                <a:latin typeface="Calibri"/>
              </a:rPr>
              <a:t>•  Modular artifacts (one app.py, one .ipynb) maximize portability and reviewability.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905695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pic>
        <p:nvPicPr>
          <p:cNvPr id="4" name="Picture 3" descr="kdu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73152"/>
            <a:ext cx="1972818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1"/>
                </a:solidFill>
                <a:latin typeface="Calibri"/>
              </a:rPr>
              <a:t>EDA Chatbot &amp; Customer Churn Prediction  •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46520"/>
            <a:ext cx="1828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1E3C72"/>
                </a:solidFill>
                <a:latin typeface="Calibri"/>
              </a:rP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E76F51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exec() is not a true sandbox — trust the LLM provider.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Synthetic data, not yet validated on a live warehouse.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Keyword router misses paraphrased visual intent.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Default 0.5 probability threshold is not cost-tuned.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2A9D8F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Replace keyword router with an LLM-as-judge intent classifier.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Retrain on the live MySQL warehouse via the same connection.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Add per-customer SHAP attributions for individualized offers.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Add a 'narrate this chart' step closing the loop with the LLM.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Container-isolated execution for truly untrusted environments.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B5561"/>
                </a:solidFill>
                <a:latin typeface="Calibri"/>
              </a:rPr>
              <a:t>•  Wire up LangSmith / Helicone observability with token + latency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2A5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du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468680" cy="914400"/>
          </a:xfrm>
          <a:prstGeom prst="rect">
            <a:avLst/>
          </a:prstGeom>
        </p:spPr>
      </p:pic>
      <p:pic>
        <p:nvPicPr>
          <p:cNvPr id="5" name="Picture 4" descr="kdu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457200"/>
            <a:ext cx="2818311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295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0" i="1">
                <a:solidFill>
                  <a:srgbClr val="F4A261"/>
                </a:solidFill>
                <a:latin typeface="Calibri"/>
              </a:rPr>
              <a:t>Questions • Discussion •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Tuyiramye Christian  (2517025)   •   Dushime Pacifique  (2517004)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 i="0">
                <a:solidFill>
                  <a:srgbClr val="F4A261"/>
                </a:solidFill>
                <a:latin typeface="Calibri"/>
              </a:rPr>
              <a:t>Supervisor:  Prof. Dr. Jebran Khan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Kyungdong University Global  •  Department of AI  •  Spring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